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 varScale="1">
        <p:scale>
          <a:sx n="57" d="100"/>
          <a:sy n="57" d="100"/>
        </p:scale>
        <p:origin x="2539" y="67"/>
      </p:cViewPr>
      <p:guideLst>
        <p:guide orient="horz" pos="3142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6009740" y="1966271"/>
            <a:ext cx="683266" cy="212921"/>
            <a:chOff x="6071533" y="2181217"/>
            <a:chExt cx="683266" cy="215444"/>
          </a:xfrm>
        </p:grpSpPr>
        <p:sp>
          <p:nvSpPr>
            <p:cNvPr id="43" name="TextBox 42"/>
            <p:cNvSpPr txBox="1"/>
            <p:nvPr/>
          </p:nvSpPr>
          <p:spPr>
            <a:xfrm>
              <a:off x="6105590" y="2181217"/>
              <a:ext cx="649209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 dirty="0" err="1">
                  <a:latin typeface="Arial Hebrew Scholar" pitchFamily="2" charset="-79"/>
                  <a:cs typeface="Arial Hebrew Scholar" pitchFamily="2" charset="-79"/>
                </a:rPr>
                <a:t>Github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8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71979" y="2356347"/>
          <a:ext cx="3955971" cy="1502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55971"/>
              </a:tblGrid>
              <a:tr h="251643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Giới thiệu</a:t>
                      </a:r>
                      <a:endParaRPr lang="en-US" sz="1000" b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1250844">
                <a:tc>
                  <a:txBody>
                    <a:bodyPr/>
                    <a:lstStyle/>
                    <a:p>
                      <a:pPr algn="just"/>
                      <a:r>
                        <a:rPr lang="vi-V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Hệ thống được xây dựng nhằm </a:t>
                      </a:r>
                      <a:r>
                        <a:rPr lang="vi-VN" sz="1000" b="0">
                          <a:latin typeface="Times New Roman" panose="02020603050405020304" charset="0"/>
                          <a:cs typeface="Times New Roman" panose="02020603050405020304" charset="0"/>
                        </a:rPr>
                        <a:t>quản lý khách hàng và công việc một cách tập trung</a:t>
                      </a:r>
                      <a:r>
                        <a:rPr lang="vi-VN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, giúp doanh nghiệp theo dõi thông tin khách hàng, phân công công việc, kiểm soát tiến độ và nâng cao hiệu quả làm việc giữa các bộ phận.</a:t>
                      </a:r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 Các chức năng chính của hệ thống gồm: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Quản lý khách hàng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Quản lý công việc</a:t>
                      </a:r>
                      <a:endParaRPr lang="en-US" sz="1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457200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000">
                          <a:latin typeface="Times New Roman" panose="02020603050405020304" charset="0"/>
                          <a:cs typeface="Times New Roman" panose="02020603050405020304" charset="0"/>
                        </a:rPr>
                        <a:t>Theo dõi tiến độ &amp; trạng thái</a:t>
                      </a:r>
                      <a:endParaRPr lang="vi-VN" sz="10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027952" y="2360409"/>
          <a:ext cx="2789416" cy="1792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6"/>
              </a:tblGrid>
              <a:tr h="19185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Kiến trúc hệ thống</a:t>
                      </a:r>
                      <a:endParaRPr lang="en-US" sz="1000" b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5482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70" name="Group 69"/>
          <p:cNvGrpSpPr/>
          <p:nvPr/>
        </p:nvGrpSpPr>
        <p:grpSpPr>
          <a:xfrm>
            <a:off x="0" y="-39866"/>
            <a:ext cx="6858000" cy="2289646"/>
            <a:chOff x="0" y="-40063"/>
            <a:chExt cx="6858000" cy="2289646"/>
          </a:xfrm>
        </p:grpSpPr>
        <p:grpSp>
          <p:nvGrpSpPr>
            <p:cNvPr id="27" name="Group 26"/>
            <p:cNvGrpSpPr/>
            <p:nvPr/>
          </p:nvGrpSpPr>
          <p:grpSpPr>
            <a:xfrm>
              <a:off x="0" y="-40063"/>
              <a:ext cx="6858000" cy="1149907"/>
              <a:chOff x="0" y="-40063"/>
              <a:chExt cx="6858000" cy="1149907"/>
            </a:xfrm>
          </p:grpSpPr>
          <p:pic>
            <p:nvPicPr>
              <p:cNvPr id="39" name="Picture 38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-1275"/>
                <a:ext cx="6858000" cy="1111119"/>
              </a:xfrm>
              <a:prstGeom prst="rect">
                <a:avLst/>
              </a:prstGeom>
            </p:spPr>
          </p:pic>
          <p:sp>
            <p:nvSpPr>
              <p:cNvPr id="40" name="TextBox 39"/>
              <p:cNvSpPr txBox="1"/>
              <p:nvPr/>
            </p:nvSpPr>
            <p:spPr>
              <a:xfrm>
                <a:off x="2358634" y="-40063"/>
                <a:ext cx="2152015" cy="398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TRƯỜNG ĐẠI HỌC ĐẠI NAM</a:t>
                </a:r>
                <a:endParaRPr lang="en-US" sz="1000" b="1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sz="1000" b="1">
                    <a:solidFill>
                      <a:schemeClr val="bg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KHOA CÔNG NGHỆ THÔNG TIN</a:t>
                </a:r>
                <a:endParaRPr lang="en-US" sz="1000" b="1">
                  <a:solidFill>
                    <a:schemeClr val="bg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65" name="Group 64"/>
            <p:cNvGrpSpPr/>
            <p:nvPr/>
          </p:nvGrpSpPr>
          <p:grpSpPr>
            <a:xfrm>
              <a:off x="0" y="1082578"/>
              <a:ext cx="6858000" cy="1167005"/>
              <a:chOff x="0" y="1082578"/>
              <a:chExt cx="6858000" cy="1167005"/>
            </a:xfrm>
          </p:grpSpPr>
          <p:sp>
            <p:nvSpPr>
              <p:cNvPr id="5" name="Title 1"/>
              <p:cNvSpPr txBox="1"/>
              <p:nvPr/>
            </p:nvSpPr>
            <p:spPr>
              <a:xfrm>
                <a:off x="0" y="1082578"/>
                <a:ext cx="6765928" cy="329891"/>
              </a:xfrm>
              <a:prstGeom prst="rect">
                <a:avLst/>
              </a:prstGeom>
            </p:spPr>
            <p:txBody>
              <a:bodyPr vert="horz" lIns="20299" tIns="10150" rIns="20299" bIns="10150" rtlCol="0" anchor="ctr">
                <a:noAutofit/>
              </a:bodyPr>
              <a:lstStyle>
                <a:lvl1pPr algn="ctr" defTabSz="288036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189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1400" b="1">
                    <a:solidFill>
                      <a:schemeClr val="accent2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ERP: HỆ THỐNG QUẢN LÝ KHÁCH HÀNG VÀ CÔNG VIỆC</a:t>
                </a:r>
                <a:endParaRPr lang="en-US" sz="1400" b="1">
                  <a:solidFill>
                    <a:schemeClr val="accent2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0" y="1363394"/>
                <a:ext cx="6858000" cy="1455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900" b="1">
                    <a:latin typeface="Times New Roman" panose="02020603050405020304" charset="0"/>
                    <a:cs typeface="Times New Roman" panose="02020603050405020304" charset="0"/>
                  </a:rPr>
                  <a:t>Nguyễn Hoài Trang, Nguyễn Thị Phương Thảo, Lê Văn Yên</a:t>
                </a:r>
                <a:endParaRPr lang="en-US" sz="900" b="1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20895" y="1512206"/>
                <a:ext cx="1616210" cy="737377"/>
              </a:xfrm>
              <a:prstGeom prst="rect">
                <a:avLst/>
              </a:prstGeom>
            </p:spPr>
          </p:pic>
        </p:grpSp>
      </p:grpSp>
      <p:graphicFrame>
        <p:nvGraphicFramePr>
          <p:cNvPr id="73" name="Table 72"/>
          <p:cNvGraphicFramePr>
            <a:graphicFrameLocks noGrp="1"/>
          </p:cNvGraphicFramePr>
          <p:nvPr/>
        </p:nvGraphicFramePr>
        <p:xfrm>
          <a:off x="4027952" y="4244268"/>
          <a:ext cx="2789415" cy="2352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5"/>
              </a:tblGrid>
              <a:tr h="312301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Công nghệ sử dụng</a:t>
                      </a:r>
                      <a:endParaRPr lang="en-US" sz="1000" b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2039806">
                <a:tc>
                  <a:txBody>
                    <a:bodyPr/>
                    <a:lstStyle/>
                    <a:p>
                      <a:pPr algn="just"/>
                      <a:endParaRPr lang="vi-VN" sz="900">
                        <a:latin typeface="Arial" panose="020B0604020202020204" pitchFamily="34" charset="0"/>
                        <a:cs typeface="Arial Hebrew Scholar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72" name="Picture 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494" y="4595440"/>
            <a:ext cx="2378325" cy="1608543"/>
          </a:xfrm>
          <a:prstGeom prst="rect">
            <a:avLst/>
          </a:prstGeom>
        </p:spPr>
      </p:pic>
      <p:graphicFrame>
        <p:nvGraphicFramePr>
          <p:cNvPr id="82" name="Table 81"/>
          <p:cNvGraphicFramePr>
            <a:graphicFrameLocks noGrp="1"/>
          </p:cNvGraphicFramePr>
          <p:nvPr/>
        </p:nvGraphicFramePr>
        <p:xfrm>
          <a:off x="71978" y="3918813"/>
          <a:ext cx="3943545" cy="5967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545"/>
              </a:tblGrid>
              <a:tr h="27897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Giao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diện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ứng</a:t>
                      </a:r>
                      <a:r>
                        <a:rPr lang="en-US" sz="10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000" b="1" dirty="0" err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dụng</a:t>
                      </a:r>
                      <a:endParaRPr lang="en-US" sz="10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3F99"/>
                    </a:solidFill>
                  </a:tcPr>
                </a:tc>
              </a:tr>
              <a:tr h="568852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sz="1000" b="1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89" name="Table 88"/>
          <p:cNvGraphicFramePr>
            <a:graphicFrameLocks noGrp="1"/>
          </p:cNvGraphicFramePr>
          <p:nvPr/>
        </p:nvGraphicFramePr>
        <p:xfrm>
          <a:off x="4027951" y="6356872"/>
          <a:ext cx="2789417" cy="16886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/>
              </a:tblGrid>
              <a:tr h="28871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Platform</a:t>
                      </a:r>
                      <a:endParaRPr lang="en-US" sz="1000" b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39991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0" name="Table 89"/>
          <p:cNvGraphicFramePr>
            <a:graphicFrameLocks noGrp="1"/>
          </p:cNvGraphicFramePr>
          <p:nvPr/>
        </p:nvGraphicFramePr>
        <p:xfrm>
          <a:off x="4027950" y="8068432"/>
          <a:ext cx="2789417" cy="14261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9417"/>
              </a:tblGrid>
              <a:tr h="146514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Hướng phát triển</a:t>
                      </a:r>
                      <a:endParaRPr lang="en-US" sz="1000" b="1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233F99"/>
                    </a:solidFill>
                  </a:tcPr>
                </a:tc>
              </a:tr>
              <a:tr h="1182341"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Phát</a:t>
                      </a:r>
                      <a:r>
                        <a:rPr 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triển</a:t>
                      </a:r>
                      <a:r>
                        <a:rPr 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thêm</a:t>
                      </a:r>
                      <a:r>
                        <a:rPr 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các</a:t>
                      </a:r>
                      <a:r>
                        <a:rPr 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chức</a:t>
                      </a:r>
                      <a:r>
                        <a:rPr 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 </a:t>
                      </a:r>
                      <a:r>
                        <a:rPr lang="en-US" sz="1200" dirty="0" err="1">
                          <a:latin typeface="Times New Roman" panose="02020603050405020304" charset="0"/>
                          <a:cs typeface="Times New Roman" panose="02020603050405020304" charset="0"/>
                        </a:rPr>
                        <a:t>năng</a:t>
                      </a:r>
                      <a:r>
                        <a:rPr 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:</a:t>
                      </a:r>
                      <a:endParaRPr 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346075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Chức năng thông báo thời hạn công việc</a:t>
                      </a:r>
                      <a:endParaRPr lang="en-US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346075" indent="-1714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latin typeface="Times New Roman" panose="02020603050405020304" charset="0"/>
                          <a:cs typeface="Times New Roman" panose="02020603050405020304" charset="0"/>
                        </a:rPr>
                        <a:t>Chức năng cập nhật và thông báo tình trạng xử lý</a:t>
                      </a:r>
                      <a:endParaRPr lang="en-US" sz="12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TextBox 91"/>
          <p:cNvSpPr txBox="1"/>
          <p:nvPr/>
        </p:nvSpPr>
        <p:spPr>
          <a:xfrm>
            <a:off x="3943438" y="9586860"/>
            <a:ext cx="295843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50" dirty="0">
                <a:latin typeface="Arial" panose="020B0604020202020204" pitchFamily="34" charset="0"/>
                <a:cs typeface="Arial Hebrew Scholar"/>
              </a:rPr>
              <a:t>©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AIoTLab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, Faculty of Information Technology, </a:t>
            </a:r>
            <a:r>
              <a:rPr lang="en-US" sz="750" dirty="0" err="1">
                <a:latin typeface="Arial" panose="020B0604020202020204" pitchFamily="34" charset="0"/>
                <a:cs typeface="Arial Hebrew Scholar"/>
              </a:rPr>
              <a:t>DaiNam</a:t>
            </a:r>
            <a:r>
              <a:rPr lang="en-US" sz="750" dirty="0">
                <a:latin typeface="Arial" panose="020B0604020202020204" pitchFamily="34" charset="0"/>
                <a:cs typeface="Arial Hebrew Scholar"/>
              </a:rPr>
              <a:t> University</a:t>
            </a:r>
            <a:endParaRPr lang="en-US" sz="750" dirty="0">
              <a:latin typeface="Arial" panose="020B0604020202020204" pitchFamily="34" charset="0"/>
              <a:cs typeface="Arial Hebrew Scholar"/>
            </a:endParaRPr>
          </a:p>
        </p:txBody>
      </p:sp>
      <p:grpSp>
        <p:nvGrpSpPr>
          <p:cNvPr id="1024" name="Group 1023"/>
          <p:cNvGrpSpPr/>
          <p:nvPr/>
        </p:nvGrpSpPr>
        <p:grpSpPr>
          <a:xfrm>
            <a:off x="4535229" y="7599157"/>
            <a:ext cx="683266" cy="362763"/>
            <a:chOff x="6071533" y="2197843"/>
            <a:chExt cx="683266" cy="367061"/>
          </a:xfrm>
        </p:grpSpPr>
        <p:sp>
          <p:nvSpPr>
            <p:cNvPr id="1025" name="TextBox 1024"/>
            <p:cNvSpPr txBox="1"/>
            <p:nvPr/>
          </p:nvSpPr>
          <p:spPr>
            <a:xfrm>
              <a:off x="6105590" y="2222338"/>
              <a:ext cx="649209" cy="3425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b="1">
                  <a:latin typeface="Arial Hebrew Scholar" pitchFamily="2" charset="-79"/>
                  <a:cs typeface="Arial Hebrew Scholar" pitchFamily="2" charset="-79"/>
                </a:rPr>
                <a:t>Github Platform</a:t>
              </a:r>
              <a:endParaRPr lang="en-US" sz="800" b="1" dirty="0">
                <a:latin typeface="Arial Hebrew Scholar" pitchFamily="2" charset="-79"/>
                <a:cs typeface="Arial Hebrew Scholar" pitchFamily="2" charset="-79"/>
              </a:endParaRPr>
            </a:p>
          </p:txBody>
        </p:sp>
        <p:pic>
          <p:nvPicPr>
            <p:cNvPr id="1026" name="Picture 4" descr="Github Logo - Free social media icons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 flipV="1">
              <a:off x="6071533" y="2197843"/>
              <a:ext cx="166522" cy="166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5" name="Group 1034"/>
          <p:cNvGrpSpPr/>
          <p:nvPr/>
        </p:nvGrpSpPr>
        <p:grpSpPr>
          <a:xfrm>
            <a:off x="5679061" y="6914401"/>
            <a:ext cx="725093" cy="1027194"/>
            <a:chOff x="5729861" y="6934721"/>
            <a:chExt cx="725093" cy="1027194"/>
          </a:xfrm>
        </p:grpSpPr>
        <p:pic>
          <p:nvPicPr>
            <p:cNvPr id="1029" name="Picture 10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29861" y="6934721"/>
              <a:ext cx="658860" cy="648000"/>
            </a:xfrm>
            <a:prstGeom prst="rect">
              <a:avLst/>
            </a:prstGeom>
          </p:spPr>
        </p:pic>
        <p:grpSp>
          <p:nvGrpSpPr>
            <p:cNvPr id="1031" name="Group 1030"/>
            <p:cNvGrpSpPr/>
            <p:nvPr/>
          </p:nvGrpSpPr>
          <p:grpSpPr>
            <a:xfrm>
              <a:off x="5771688" y="7623361"/>
              <a:ext cx="683266" cy="338554"/>
              <a:chOff x="6071533" y="2191497"/>
              <a:chExt cx="683266" cy="342566"/>
            </a:xfrm>
          </p:grpSpPr>
          <p:sp>
            <p:nvSpPr>
              <p:cNvPr id="1032" name="TextBox 1031"/>
              <p:cNvSpPr txBox="1"/>
              <p:nvPr/>
            </p:nvSpPr>
            <p:spPr>
              <a:xfrm>
                <a:off x="6105590" y="2191497"/>
                <a:ext cx="649209" cy="3425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800" b="1">
                    <a:latin typeface="Arial Hebrew Scholar" pitchFamily="2" charset="-79"/>
                    <a:cs typeface="Arial Hebrew Scholar" pitchFamily="2" charset="-79"/>
                  </a:rPr>
                  <a:t>Github FIT-DNU</a:t>
                </a:r>
                <a:endParaRPr lang="en-US" sz="800" b="1" dirty="0">
                  <a:latin typeface="Arial Hebrew Scholar" pitchFamily="2" charset="-79"/>
                  <a:cs typeface="Arial Hebrew Scholar" pitchFamily="2" charset="-79"/>
                </a:endParaRPr>
              </a:p>
            </p:txBody>
          </p:sp>
          <p:pic>
            <p:nvPicPr>
              <p:cNvPr id="1033" name="Picture 4" descr="Github Logo - Free social media icons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800000" flipV="1">
                <a:off x="6071533" y="2197843"/>
                <a:ext cx="166522" cy="16652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9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" t="5636" r="10284" b="6534"/>
          <a:stretch>
            <a:fillRect/>
          </a:stretch>
        </p:blipFill>
        <p:spPr>
          <a:xfrm>
            <a:off x="4534240" y="6914401"/>
            <a:ext cx="719300" cy="6540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7" t="5636" r="10284" b="6534"/>
          <a:stretch>
            <a:fillRect/>
          </a:stretch>
        </p:blipFill>
        <p:spPr>
          <a:xfrm>
            <a:off x="5925866" y="1317205"/>
            <a:ext cx="719300" cy="65402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" t="20159" r="4511" b="6173"/>
          <a:stretch>
            <a:fillRect/>
          </a:stretch>
        </p:blipFill>
        <p:spPr bwMode="auto">
          <a:xfrm>
            <a:off x="4089515" y="2662938"/>
            <a:ext cx="2676413" cy="1440582"/>
          </a:xfrm>
          <a:prstGeom prst="rect">
            <a:avLst/>
          </a:prstGeom>
          <a:noFill/>
        </p:spPr>
      </p:pic>
      <p:pic>
        <p:nvPicPr>
          <p:cNvPr id="2" name="Picture 1"/>
          <p:cNvPicPr/>
          <p:nvPr/>
        </p:nvPicPr>
        <p:blipFill>
          <a:blip r:embed="rId8"/>
          <a:stretch>
            <a:fillRect/>
          </a:stretch>
        </p:blipFill>
        <p:spPr>
          <a:xfrm>
            <a:off x="95885" y="4199890"/>
            <a:ext cx="3872230" cy="1467485"/>
          </a:xfrm>
          <a:prstGeom prst="rect">
            <a:avLst/>
          </a:prstGeom>
        </p:spPr>
      </p:pic>
      <p:pic>
        <p:nvPicPr>
          <p:cNvPr id="3" name="Picture 2"/>
          <p:cNvPicPr/>
          <p:nvPr/>
        </p:nvPicPr>
        <p:blipFill>
          <a:blip r:embed="rId9"/>
          <a:stretch>
            <a:fillRect/>
          </a:stretch>
        </p:blipFill>
        <p:spPr>
          <a:xfrm>
            <a:off x="95885" y="4987290"/>
            <a:ext cx="3872865" cy="1216660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10"/>
          <a:stretch>
            <a:fillRect/>
          </a:stretch>
        </p:blipFill>
        <p:spPr>
          <a:xfrm>
            <a:off x="95250" y="6117590"/>
            <a:ext cx="3872230" cy="2469515"/>
          </a:xfrm>
          <a:prstGeom prst="rect">
            <a:avLst/>
          </a:prstGeom>
        </p:spPr>
      </p:pic>
      <p:pic>
        <p:nvPicPr>
          <p:cNvPr id="18" name="Picture 17"/>
          <p:cNvPicPr/>
          <p:nvPr/>
        </p:nvPicPr>
        <p:blipFill>
          <a:blip r:embed="rId11"/>
          <a:stretch>
            <a:fillRect/>
          </a:stretch>
        </p:blipFill>
        <p:spPr>
          <a:xfrm>
            <a:off x="95885" y="8455025"/>
            <a:ext cx="3872230" cy="1390015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12"/>
          <a:stretch>
            <a:fillRect/>
          </a:stretch>
        </p:blipFill>
        <p:spPr>
          <a:xfrm>
            <a:off x="95885" y="7078980"/>
            <a:ext cx="3847465" cy="1427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761</Words>
  <Application>WPS Presentation</Application>
  <PresentationFormat>A4 Paper (210x297 mm)</PresentationFormat>
  <Paragraphs>36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Arial Hebrew Scholar</vt:lpstr>
      <vt:lpstr>Arial Hebrew Scholar</vt:lpstr>
      <vt:lpstr>Calibri</vt:lpstr>
      <vt:lpstr>Microsoft YaHei</vt:lpstr>
      <vt:lpstr>Arial Unicode MS</vt:lpstr>
      <vt:lpstr>Calibri Light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Thảo Nguyễn</cp:lastModifiedBy>
  <cp:revision>101</cp:revision>
  <dcterms:created xsi:type="dcterms:W3CDTF">2023-07-02T07:57:00Z</dcterms:created>
  <dcterms:modified xsi:type="dcterms:W3CDTF">2026-01-28T13:27:35Z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5C14C04C9EA1472F9DA2DE55392EF09C_12</vt:lpwstr>
  </property>
  <property fmtid="{D5CDD505-2E9C-101B-9397-08002B2CF9AE}" pid="3" name="KSOProductBuildVer">
    <vt:lpwstr>2057-12.2.0.23196</vt:lpwstr>
  </property>
</Properties>
</file>